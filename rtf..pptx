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2e9b7e7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2e9b7e7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e9b7e77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e9b7e77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2e9b7e77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2e9b7e77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3f7ea75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3f7ea75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3f7ea75d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3f7ea75d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2e9b7e77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2e9b7e77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95350" y="2366200"/>
            <a:ext cx="821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ru" sz="30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Архітектурне рішення щодо </a:t>
            </a:r>
            <a:br>
              <a:rPr lang="ru" sz="30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30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архітектури рішення за адресами в ЕКБ.</a:t>
            </a:r>
            <a:endParaRPr sz="3000">
              <a:solidFill>
                <a:srgbClr val="172B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350875" y="4434925"/>
            <a:ext cx="3643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57"/>
              </a:buClr>
              <a:buSzPts val="1500"/>
              <a:buFont typeface="Montserrat"/>
              <a:buNone/>
            </a:pPr>
            <a:r>
              <a:rPr lang="ru" sz="12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Підготував </a:t>
            </a:r>
            <a:r>
              <a:rPr b="1" lang="ru" sz="12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Папук О.В</a:t>
            </a:r>
            <a:r>
              <a:rPr lang="ru" sz="12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 ,</a:t>
            </a:r>
            <a:br>
              <a:rPr lang="ru" sz="12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rgbClr val="172B4D"/>
                </a:solidFill>
                <a:latin typeface="Montserrat"/>
                <a:ea typeface="Montserrat"/>
                <a:cs typeface="Montserrat"/>
                <a:sym typeface="Montserrat"/>
              </a:rPr>
              <a:t>Управління системного аналізу та дизайну</a:t>
            </a:r>
            <a:endParaRPr sz="1200">
              <a:solidFill>
                <a:srgbClr val="172B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>
            <a:off x="257525" y="443625"/>
            <a:ext cx="8265900" cy="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163400" y="0"/>
            <a:ext cx="51012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План міграції</a:t>
            </a:r>
            <a:endParaRPr b="1" sz="2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t/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360150" y="1726325"/>
            <a:ext cx="7256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AutoNum type="arabicPeriod"/>
            </a:pPr>
            <a:r>
              <a:rPr lang="ru" sz="1500">
                <a:solidFill>
                  <a:srgbClr val="1E293B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Контекст системи ЕКБ</a:t>
            </a:r>
            <a:endParaRPr sz="1500">
              <a:solidFill>
                <a:srgbClr val="1E293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AutoNum type="arabicPeriod"/>
            </a:pPr>
            <a:r>
              <a:rPr lang="ru" sz="1500">
                <a:solidFill>
                  <a:srgbClr val="1E293B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Деталізація контейнерів в системі ЕКБ</a:t>
            </a:r>
            <a:endParaRPr sz="1500">
              <a:solidFill>
                <a:srgbClr val="1E293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AutoNum type="arabicPeriod"/>
            </a:pPr>
            <a:r>
              <a:rPr lang="ru" sz="1500">
                <a:solidFill>
                  <a:srgbClr val="1E293B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Ризик відключення кешу</a:t>
            </a:r>
            <a:endParaRPr sz="1500">
              <a:solidFill>
                <a:srgbClr val="1E293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AutoNum type="arabicPeriod"/>
            </a:pPr>
            <a:r>
              <a:rPr lang="ru" sz="1500">
                <a:solidFill>
                  <a:srgbClr val="1E293B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Пропозиція щодо кінцевої архітектури</a:t>
            </a:r>
            <a:endParaRPr sz="1500">
              <a:solidFill>
                <a:srgbClr val="1E293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Montserrat"/>
              <a:buAutoNum type="arabicPeriod"/>
            </a:pPr>
            <a:r>
              <a:rPr lang="ru" sz="1500">
                <a:solidFill>
                  <a:srgbClr val="1E293B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Пропозиція щодо оптимізації пошуку адрес</a:t>
            </a:r>
            <a:endParaRPr sz="1500">
              <a:solidFill>
                <a:srgbClr val="1E293B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5"/>
          <p:cNvCxnSpPr/>
          <p:nvPr/>
        </p:nvCxnSpPr>
        <p:spPr>
          <a:xfrm>
            <a:off x="257525" y="443625"/>
            <a:ext cx="8265900" cy="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5"/>
          <p:cNvSpPr txBox="1"/>
          <p:nvPr/>
        </p:nvSpPr>
        <p:spPr>
          <a:xfrm>
            <a:off x="163400" y="0"/>
            <a:ext cx="51012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 системи ЕКБ </a:t>
            </a:r>
            <a:endParaRPr b="1" sz="20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t/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07950" y="3904625"/>
            <a:ext cx="852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ЄКБ виступає посередником між споживачами та еталонним довідником адрес. </a:t>
            </a:r>
            <a:b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Системи-споживачі через інтерфейс ініціюють запити на отримання даних, а також на створення та модифікацію адресних записів. ЄКБ опрацьовує ці запити та забезпечує взаємодію із системою-довідником.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650" y="982600"/>
            <a:ext cx="7150698" cy="25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6"/>
          <p:cNvCxnSpPr/>
          <p:nvPr/>
        </p:nvCxnSpPr>
        <p:spPr>
          <a:xfrm>
            <a:off x="257525" y="443625"/>
            <a:ext cx="8265900" cy="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163400" y="0"/>
            <a:ext cx="51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None/>
            </a:pPr>
            <a:r>
              <a:rPr b="1" lang="ru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Деталізація контейнерів </a:t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07950" y="4126175"/>
            <a:ext cx="8528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Внутрішня логіка системи базується на використанні MongoDB як шару кешування, де відбувається першочергова перевірка та синхронізація даних. </a:t>
            </a:r>
            <a:b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Паралельно всі дані (включаючи валідні та неповні/невалідні записи) дублюються в Oracle. ,кожен запис в якій супроводжується прив'язкою до унікального ідентифікатора клієнта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5000"/>
            <a:ext cx="8775443" cy="33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17"/>
          <p:cNvCxnSpPr/>
          <p:nvPr/>
        </p:nvCxnSpPr>
        <p:spPr>
          <a:xfrm>
            <a:off x="257525" y="443625"/>
            <a:ext cx="8265900" cy="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163400" y="0"/>
            <a:ext cx="51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None/>
            </a:pPr>
            <a:r>
              <a:rPr b="1" lang="ru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Ризик відключення кешу </a:t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10000" y="4156175"/>
            <a:ext cx="8839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Деактивація кешу призведе до прямого зростання навантаження на систему-довідник та накопичення активних потоків (threads). Це спричинить критичне збільшення затримки (latency) у відповідях системи. </a:t>
            </a:r>
            <a:b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Такий сценарій створює ризик каскадних збоїв, що може призвести до інцидентів на рівні Приват24 та інших інтегрованих систем.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9163"/>
            <a:ext cx="8839199" cy="3330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8"/>
          <p:cNvCxnSpPr/>
          <p:nvPr/>
        </p:nvCxnSpPr>
        <p:spPr>
          <a:xfrm>
            <a:off x="257525" y="443625"/>
            <a:ext cx="8265900" cy="6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163400" y="0"/>
            <a:ext cx="897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F172A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Пропована архітектура щодо отримання адрес</a:t>
            </a:r>
            <a:endParaRPr b="1" sz="20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257525" y="3669575"/>
            <a:ext cx="8528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Пропонуємо зберегти функціонал зберігання адрес у системі ЄКБ, проте змінити логіку їх отримання для формування звітності НБУ: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Валідні (повні) адреси: отримувати виключно з еталонного системи-довідника.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Невалідні (неповні) адреси: отримувати з внутрішніх джерел системи (кеш MongoDB та БД Oracle).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Аналогічним чином пропонується переглянути ETL-процеси вивантаження даних у DWH: налаштувати пріоритетність отримання валідних записів із довідника, а неповних даних — із внутрішніх таблиць системи.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Це дозволить оптимізувати процесс повернення даних для облікових систем та звітності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63" y="645000"/>
            <a:ext cx="7846425" cy="302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